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0881360" cy="5577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960120"/>
            <a:ext cx="205740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PROJECT TEAM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680960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3400" b="1">
                <a:solidFill>
                  <a:srgbClr val="1C232D"/>
                </a:solidFill>
                <a:latin typeface="Malgun Gothic"/>
              </a:defRPr>
            </a:pPr>
            <a:r>
              <a:t>Recipe Taste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21408"/>
            <a:ext cx="79552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0">
                <a:solidFill>
                  <a:srgbClr val="596373"/>
                </a:solidFill>
                <a:latin typeface="Malgun Gothic"/>
              </a:defRPr>
            </a:pPr>
            <a:r>
              <a:t>레시피 탐색, AI 개량 요청, 관리자 검수를 연결하는 WIZ 기반 웹 서비스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3035808"/>
            <a:ext cx="566928" cy="566928"/>
          </a:xfrm>
          <a:prstGeom prst="ellipse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3118104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탐색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72768" y="3319272"/>
            <a:ext cx="1078992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07792" y="303580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3118104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AI 개량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93008" y="3319272"/>
            <a:ext cx="1078992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828032" y="3035808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3118104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검수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230368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15~20분 발표용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왜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사용자 편의와 운영 검수를 동시에 해결하는 것이 목표입니다.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2461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1" y="1965960"/>
            <a:ext cx="1051560" cy="310896"/>
          </a:xfrm>
          <a:prstGeom prst="round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9669"/>
                </a:solidFill>
                <a:latin typeface="Malgun Gothic"/>
              </a:defRPr>
            </a:pPr>
            <a:r>
              <a:t>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000" b="1">
                <a:solidFill>
                  <a:srgbClr val="1C232D"/>
                </a:solidFill>
                <a:latin typeface="Malgun Gothic"/>
              </a:defRPr>
            </a:pPr>
            <a:r>
              <a:t>상황에 맞는 레시피를 빠르게 찾고 싶다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8229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핵심 요구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91640"/>
            <a:ext cx="32461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6592" y="1965960"/>
            <a:ext cx="105156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운영자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60604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000" b="1">
                <a:solidFill>
                  <a:srgbClr val="1C232D"/>
                </a:solidFill>
                <a:latin typeface="Malgun Gothic"/>
              </a:defRPr>
            </a:pPr>
            <a:r>
              <a:t>출처, 버전, 피드백, 로그를 추적해야 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977639"/>
            <a:ext cx="8229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핵심 요구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691640"/>
            <a:ext cx="32461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9911" y="1965960"/>
            <a:ext cx="1051560" cy="31089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AI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60320"/>
            <a:ext cx="2606040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000" b="1">
                <a:solidFill>
                  <a:srgbClr val="1C232D"/>
                </a:solidFill>
                <a:latin typeface="Malgun Gothic"/>
              </a:defRPr>
            </a:pPr>
            <a:r>
              <a:t>자동 공개보다 검수와 기록이 먼저 필요하다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77639"/>
            <a:ext cx="8229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핵심 요구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2000" b="1">
                <a:solidFill>
                  <a:srgbClr val="179669"/>
                </a:solidFill>
                <a:latin typeface="Malgun Gothic"/>
              </a:defRPr>
            </a:pPr>
            <a:r>
              <a:t>결론: “AI가 제안하고, 관리자가 검수한 레시피”를 제공하는 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MVP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발표에 필요한 핵심 기능만 제품 관점으로 요약했습니다.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74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865376"/>
            <a:ext cx="1417320" cy="310896"/>
          </a:xfrm>
          <a:prstGeom prst="round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9669"/>
                </a:solidFill>
                <a:latin typeface="Malgun Gothic"/>
              </a:defRPr>
            </a:pPr>
            <a:r>
              <a:t>이번 MVP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95728"/>
            <a:ext cx="4389120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공개 레시피 탐색</a:t>
            </a:r>
          </a:p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레시피 버전/출처 표시</a:t>
            </a:r>
          </a:p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AI 요약 및 개량 요청</a:t>
            </a:r>
          </a:p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관리자 승인/반려</a:t>
            </a:r>
          </a:p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댓글, 즐겨찾기, 수정 요청</a:t>
            </a:r>
          </a:p>
          <a:p>
            <a:pPr>
              <a:spcAft>
                <a:spcPts val="800"/>
              </a:spcAft>
              <a:defRPr sz="1700">
                <a:solidFill>
                  <a:srgbClr val="1C232D"/>
                </a:solidFill>
                <a:latin typeface="Malgun Gothic"/>
              </a:defRPr>
            </a:pPr>
            <a:r>
              <a:t>운영 로그와 피드백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074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47688" y="1865376"/>
            <a:ext cx="16916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  <a:latin typeface="Malgun Gothic"/>
              </a:defRPr>
            </a:pPr>
            <a:r>
              <a:t>이번 발표 제외/후속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389120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AI 결과 자동 공개</a:t>
            </a:r>
          </a:p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원문 전문 공개</a:t>
            </a:r>
          </a:p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유튜브 자동 업로드</a:t>
            </a:r>
          </a:p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대량 자동 크롤링</a:t>
            </a:r>
          </a:p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의료 상담/치료 표현</a:t>
            </a:r>
          </a:p>
          <a:p>
            <a:pPr>
              <a:spcAft>
                <a:spcPts val="800"/>
              </a:spcAft>
              <a:defRPr sz="1700">
                <a:solidFill>
                  <a:srgbClr val="596373"/>
                </a:solidFill>
                <a:latin typeface="Malgun Gothic"/>
              </a:defRPr>
            </a:pPr>
            <a:r>
              <a:t>결제/구독 고도화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전체 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사용자 탐색에서 관리자 검수까지 하나의 운영 흐름으로 연결됩니다.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1828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2240280"/>
            <a:ext cx="566928" cy="566928"/>
          </a:xfrm>
          <a:prstGeom prst="ellipse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C232D"/>
                </a:solidFill>
                <a:latin typeface="Malgun Gothic"/>
              </a:defRPr>
            </a:pPr>
            <a:r>
              <a:t>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554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추천/인기 레시피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41448" y="2971800"/>
            <a:ext cx="374904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62072" y="1965960"/>
            <a:ext cx="1828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2240280"/>
            <a:ext cx="566928" cy="566928"/>
          </a:xfrm>
          <a:prstGeom prst="ellipse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971800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C232D"/>
                </a:solidFill>
                <a:latin typeface="Malgun Gothic"/>
              </a:defRPr>
            </a:pPr>
            <a:r>
              <a:t>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383280"/>
            <a:ext cx="1554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검색/필터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2971800"/>
            <a:ext cx="374904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9784" y="1965960"/>
            <a:ext cx="1828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42432" y="22402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971800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C232D"/>
                </a:solidFill>
                <a:latin typeface="Malgun Gothic"/>
              </a:defRPr>
            </a:pPr>
            <a:r>
              <a:t>상세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383280"/>
            <a:ext cx="1554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버전/출처/댓글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76872" y="2971800"/>
            <a:ext cx="374904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7496" y="1965960"/>
            <a:ext cx="1828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0144" y="22402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2971800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C232D"/>
                </a:solidFill>
                <a:latin typeface="Malgun Gothic"/>
              </a:defRPr>
            </a:pPr>
            <a:r>
              <a:t>AI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3383280"/>
            <a:ext cx="1554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목적/조건 입력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44584" y="2971800"/>
            <a:ext cx="374904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65208" y="1965960"/>
            <a:ext cx="1828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77856" y="2240280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971800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C232D"/>
                </a:solidFill>
                <a:latin typeface="Malgun Gothic"/>
              </a:defRPr>
            </a:pPr>
            <a:r>
              <a:t>관리자 검수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3383280"/>
            <a:ext cx="15544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승인/반려/로그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92040"/>
            <a:ext cx="98755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  <a:latin typeface="Malgun Gothic"/>
              </a:defRPr>
            </a:pPr>
            <a:r>
              <a:t>AI 결과는 바로 공개하지 않고 Pending Review 상태로 저장됩니다.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주요 화면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발표에서는 화면 이름보다 사용자가 수행하는 일을 중심으로 설명합니다.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8407" y="1801368"/>
            <a:ext cx="1234440" cy="310896"/>
          </a:xfrm>
          <a:prstGeom prst="round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9669"/>
                </a:solidFill>
                <a:latin typeface="Malgun Gothic"/>
              </a:defRPr>
            </a:pPr>
            <a:r>
              <a:t>메인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31343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추천/인기 레시피</a:t>
            </a:r>
            <a:br/>
            <a:r>
              <a:t>검색 진입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4568" y="160020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73168" y="1801368"/>
            <a:ext cx="1600200" cy="310896"/>
          </a:xfrm>
          <a:prstGeom prst="round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9669"/>
                </a:solidFill>
                <a:latin typeface="Malgun Gothic"/>
              </a:defRPr>
            </a:pPr>
            <a:r>
              <a:t>레시피 목록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31343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검색, 필터, 정렬</a:t>
            </a:r>
            <a:br/>
            <a:r>
              <a:t>카드 목록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60020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67928" y="1801368"/>
            <a:ext cx="160020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레시피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231343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재료, 조리 단계</a:t>
            </a:r>
            <a:br/>
            <a:r>
              <a:t>출처, 댓글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4903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8407" y="3950207"/>
            <a:ext cx="160020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AI 개량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446227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목적 선택</a:t>
            </a:r>
            <a:br/>
            <a:r>
              <a:t>검수 대기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374903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73168" y="3950207"/>
            <a:ext cx="1600200" cy="310896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E22CE"/>
                </a:solidFill>
                <a:latin typeface="Malgun Gothic"/>
              </a:defRPr>
            </a:pPr>
            <a:r>
              <a:t>마이페이지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46227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선호도, 활동 내역</a:t>
            </a:r>
            <a:br/>
            <a:r>
              <a:t>최근 조회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749039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67928" y="3950207"/>
            <a:ext cx="1234440" cy="31089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관리자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462272"/>
            <a:ext cx="26060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레시피, 출처, AI</a:t>
            </a:r>
            <a:br/>
            <a:r>
              <a:t>피드백, 로그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AI 개량과 검수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AI는 자동 게시 도구가 아니라 검수 가능한 제안 도구로 사용됩니다.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783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9304" y="21762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44368"/>
            <a:ext cx="15087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사용자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조건/목적 입력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96312" y="2971800"/>
            <a:ext cx="365760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920240"/>
            <a:ext cx="1783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9584" y="2176272"/>
            <a:ext cx="566928" cy="566928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944368"/>
            <a:ext cx="15087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AI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3375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요약/개량 생성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971800"/>
            <a:ext cx="365760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920240"/>
            <a:ext cx="1783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9864" y="2176272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44368"/>
            <a:ext cx="15087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검수 대기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375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Pending 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76872" y="2971800"/>
            <a:ext cx="365760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920240"/>
            <a:ext cx="1783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0144" y="2176272"/>
            <a:ext cx="566928" cy="566928"/>
          </a:xfrm>
          <a:prstGeom prst="ellipse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944368"/>
            <a:ext cx="15087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관리자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3375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승인 또는 반려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17152" y="2971800"/>
            <a:ext cx="365760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920240"/>
            <a:ext cx="17830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50424" y="2176272"/>
            <a:ext cx="566928" cy="56692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944368"/>
            <a:ext cx="15087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공개/기록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100" b="0">
                <a:solidFill>
                  <a:srgbClr val="596373"/>
                </a:solidFill>
                <a:latin typeface="Malgun Gothic"/>
              </a:defRPr>
            </a:pPr>
            <a:r>
              <a:t>Approved +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892040"/>
            <a:ext cx="10058400" cy="7772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5102352"/>
            <a:ext cx="9509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Malgun Gothic"/>
              </a:defRPr>
            </a:pPr>
            <a:r>
              <a:t>안전 원칙: 저염식, 이유식, 알레르기 관련 결과는 검수 전 공개하지 않습니다.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데이터 관리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레시피를 “단일 글”이 아니라 버전과 출처가 있는 운영 데이터로 관리합니다.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17720" y="2423160"/>
            <a:ext cx="2971800" cy="1234440"/>
          </a:xfrm>
          <a:prstGeom prst="roundRect">
            <a:avLst/>
          </a:prstGeom>
          <a:solidFill>
            <a:srgbClr val="D9F7E8"/>
          </a:solidFill>
          <a:ln w="10160">
            <a:solidFill>
              <a:srgbClr val="1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2670048"/>
            <a:ext cx="24231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2000" b="1">
                <a:solidFill>
                  <a:srgbClr val="179669"/>
                </a:solidFill>
                <a:latin typeface="Malgun Gothic"/>
              </a:defRPr>
            </a:pPr>
            <a:r>
              <a:t>Recipe Dish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3054096"/>
            <a:ext cx="2423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요리 기본 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2926080" cy="10515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24688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algun Gothic"/>
              </a:defRPr>
            </a:pPr>
            <a:r>
              <a:t>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67128"/>
            <a:ext cx="246888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재료/단계/영양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130552"/>
            <a:ext cx="731520" cy="905256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79" y="1600200"/>
            <a:ext cx="2926080" cy="10515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24688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D97706"/>
                </a:solidFill>
                <a:latin typeface="Malgun Gothic"/>
              </a:defRPr>
            </a:pPr>
            <a: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67128"/>
            <a:ext cx="246888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원본 링크/수집 상태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589520" y="2130552"/>
            <a:ext cx="594359" cy="905256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4343400"/>
            <a:ext cx="2926080" cy="1051560"/>
          </a:xfrm>
          <a:prstGeom prst="roundRect">
            <a:avLst/>
          </a:prstGeom>
          <a:solidFill>
            <a:srgbClr val="F3E8FF"/>
          </a:solidFill>
          <a:ln w="1016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24688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7E22CE"/>
                </a:solidFill>
                <a:latin typeface="Malgun Gothic"/>
              </a:defRPr>
            </a:pPr>
            <a:r>
              <a:t>User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10328"/>
            <a:ext cx="246888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댓글/즐겨찾기/수정 요청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86200" y="3035808"/>
            <a:ext cx="731520" cy="1837944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83879" y="4343400"/>
            <a:ext cx="2926080" cy="105156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526280"/>
            <a:ext cx="24688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334155"/>
                </a:solidFill>
                <a:latin typeface="Malgun Gothic"/>
              </a:defRPr>
            </a:pPr>
            <a:r>
              <a:t>Admin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10328"/>
            <a:ext cx="246888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승인/반려/상태 변경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589520" y="3035808"/>
            <a:ext cx="594359" cy="1837944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기술 구조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비전공자 기준으로는 화면, 요청 처리, 데이터 관리가 분리되어 있다고 이해하면 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1600200"/>
            <a:ext cx="9692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8760" y="1810512"/>
            <a:ext cx="1463040" cy="310896"/>
          </a:xfrm>
          <a:prstGeom prst="roundRect">
            <a:avLst/>
          </a:prstGeom>
          <a:solidFill>
            <a:srgbClr val="D9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79669"/>
                </a:solidFill>
                <a:latin typeface="Malgun Gothic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64792"/>
            <a:ext cx="704088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Angular Page / Layout</a:t>
            </a:r>
            <a:br/>
            <a:r>
              <a:t>사용자 화면과 관리자 화면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350008"/>
            <a:ext cx="0" cy="329183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34440" y="2679191"/>
            <a:ext cx="9692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08760" y="2889503"/>
            <a:ext cx="146304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WIZ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43784"/>
            <a:ext cx="704088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page api.py / route</a:t>
            </a:r>
            <a:br/>
            <a:r>
              <a:t>화면 요청 처리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428999"/>
            <a:ext cx="0" cy="329184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34440" y="3758183"/>
            <a:ext cx="9692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08760" y="3968496"/>
            <a:ext cx="1463040" cy="310896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E22CE"/>
                </a:solidFill>
                <a:latin typeface="Malgun Gothic"/>
              </a:defRPr>
            </a:pPr>
            <a:r>
              <a:t>Domain Struct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922775"/>
            <a:ext cx="704088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recipe, user, source, ai</a:t>
            </a:r>
            <a:br/>
            <a:r>
              <a:t>업무 규칙과 데이터 접근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507992"/>
            <a:ext cx="0" cy="329183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34440" y="4837176"/>
            <a:ext cx="96926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8760" y="5047488"/>
            <a:ext cx="1463040" cy="31089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t>Data &amp;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001768"/>
            <a:ext cx="704088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0">
                <a:solidFill>
                  <a:srgbClr val="1C232D"/>
                </a:solidFill>
                <a:latin typeface="Malgun Gothic"/>
              </a:defRPr>
            </a:pPr>
            <a:r>
              <a:t>레시피, 버전, 출처</a:t>
            </a:r>
            <a:br/>
            <a:r>
              <a:t>사용자 활동, 관리자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오류 점검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페이지 관련 컴파일 오류는 해결했고, 운영 전 남은 항목은 분리했습니다.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46120" cy="1417320"/>
          </a:xfrm>
          <a:prstGeom prst="roundRect">
            <a:avLst/>
          </a:prstGeom>
          <a:solidFill>
            <a:srgbClr val="D9F7E8"/>
          </a:solidFill>
          <a:ln w="10160">
            <a:solidFill>
              <a:srgbClr val="1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6517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개발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67712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200" b="1">
                <a:solidFill>
                  <a:srgbClr val="179669"/>
                </a:solidFill>
                <a:latin typeface="Malgun Gothic"/>
              </a:defRPr>
            </a:pPr>
            <a:r>
              <a:t>성공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246120" cy="1417320"/>
          </a:xfrm>
          <a:prstGeom prst="roundRect">
            <a:avLst/>
          </a:prstGeom>
          <a:solidFill>
            <a:srgbClr val="D9F7E8"/>
          </a:solidFill>
          <a:ln w="10160">
            <a:solidFill>
              <a:srgbClr val="17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874519"/>
            <a:ext cx="26517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페이지 컴파일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67712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200" b="1">
                <a:solidFill>
                  <a:srgbClr val="179669"/>
                </a:solidFill>
                <a:latin typeface="Malgun Gothic"/>
              </a:defRPr>
            </a:pPr>
            <a:r>
              <a:t>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246120" cy="141732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874519"/>
            <a:ext cx="26517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프로덕션 빌드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67712"/>
            <a:ext cx="2651760" cy="329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200" b="1">
                <a:solidFill>
                  <a:srgbClr val="D97706"/>
                </a:solidFill>
                <a:latin typeface="Malgun Gothic"/>
              </a:defRPr>
            </a:pPr>
            <a:r>
              <a:t>용량 제한으로 실패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703320"/>
            <a:ext cx="100584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13632"/>
            <a:ext cx="21031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500" b="1">
                <a:solidFill>
                  <a:srgbClr val="1C232D"/>
                </a:solidFill>
                <a:latin typeface="Malgun Gothic"/>
              </a:defRPr>
            </a:pPr>
            <a:r>
              <a:t>이번에 해결한 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43400"/>
            <a:ext cx="93268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32D"/>
                </a:solidFill>
                <a:latin typeface="Malgun Gothic"/>
              </a:defRPr>
            </a:pPr>
            <a:r>
              <a:t>누락된 SCSS 파일 보강</a:t>
            </a:r>
          </a:p>
          <a:p>
            <a:pPr>
              <a:spcAft>
                <a:spcPts val="800"/>
              </a:spcAft>
              <a:defRPr sz="1400">
                <a:solidFill>
                  <a:srgbClr val="1C232D"/>
                </a:solidFill>
                <a:latin typeface="Malgun Gothic"/>
              </a:defRPr>
            </a:pPr>
            <a:r>
              <a:t>Angular strict 타입 검사 충돌 완화</a:t>
            </a:r>
          </a:p>
          <a:p>
            <a:pPr>
              <a:spcAft>
                <a:spcPts val="800"/>
              </a:spcAft>
              <a:defRPr sz="1400">
                <a:solidFill>
                  <a:srgbClr val="1C232D"/>
                </a:solidFill>
                <a:latin typeface="Malgun Gothic"/>
              </a:defRPr>
            </a:pPr>
            <a:r>
              <a:t>WizRoute / wiz.call() / 동적 상태 객체 타입 보강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남은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출시 가능 품질 확보를 위한 작업만 남겨두었습니다.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00200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508760"/>
            <a:ext cx="94640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655063"/>
            <a:ext cx="25603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D97706"/>
                </a:solidFill>
                <a:latin typeface="Malgun Gothic"/>
              </a:defRPr>
            </a:pPr>
            <a:r>
              <a:t>Production build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73351"/>
            <a:ext cx="57607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번들 용량 최적화 또는 budget 기준 재검토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71576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2624328"/>
            <a:ext cx="94640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770632"/>
            <a:ext cx="25603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algun Gothic"/>
              </a:defRPr>
            </a:pPr>
            <a:r>
              <a:t>브라우저 시나리오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88920"/>
            <a:ext cx="57607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메인, 목록, 상세, AI 요청, 관리자 화면 실제 흐름 확인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31335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739896"/>
            <a:ext cx="94640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886200"/>
            <a:ext cx="25603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DC2626"/>
                </a:solidFill>
                <a:latin typeface="Malgun Gothic"/>
              </a:defRPr>
            </a:pPr>
            <a:r>
              <a:t>보안/의존성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04487"/>
            <a:ext cx="57607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npm audit 취약점 영향도와 CommonJS 경고 검토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946904"/>
            <a:ext cx="566928" cy="566928"/>
          </a:xfrm>
          <a:prstGeom prst="ellipse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4855464"/>
            <a:ext cx="946404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5001768"/>
            <a:ext cx="25603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700" b="1">
                <a:solidFill>
                  <a:srgbClr val="179669"/>
                </a:solidFill>
                <a:latin typeface="Malgun Gothic"/>
              </a:defRPr>
            </a:pPr>
            <a:r>
              <a:t>배포 운영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020056"/>
            <a:ext cx="57607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400" b="0">
                <a:solidFill>
                  <a:srgbClr val="596373"/>
                </a:solidFill>
                <a:latin typeface="Malgun Gothic"/>
              </a:defRPr>
            </a:pPr>
            <a:r>
              <a:t>배포, 롤백, 관리자 운영 절차 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1C232D"/>
                </a:solidFill>
                <a:latin typeface="Malgun Gothic"/>
              </a:defRPr>
            </a:pPr>
            <a:r>
              <a:t>다음 작업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786384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1200" b="0">
                <a:solidFill>
                  <a:srgbClr val="596373"/>
                </a:solidFill>
                <a:latin typeface="Malgun Gothic"/>
              </a:defRPr>
            </a:pPr>
            <a:r>
              <a:t>기능 추가보다 안정화와 검증을 먼저 진행합니다.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" cy="54864"/>
          </a:xfrm>
          <a:prstGeom prst="rect">
            <a:avLst/>
          </a:prstGeom>
          <a:solidFill>
            <a:srgbClr val="1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3317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50592"/>
            <a:ext cx="187451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600" b="1">
                <a:solidFill>
                  <a:srgbClr val="179669"/>
                </a:solidFill>
                <a:latin typeface="Malgun Gothic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99232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700" b="1">
                <a:solidFill>
                  <a:srgbClr val="1C232D"/>
                </a:solidFill>
                <a:latin typeface="Malgun Gothic"/>
              </a:defRPr>
            </a:pPr>
            <a:r>
              <a:t>번들 용량/빌드 정리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6392" y="3154680"/>
            <a:ext cx="429768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11880" y="2148840"/>
            <a:ext cx="23317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450592"/>
            <a:ext cx="187451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99232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700" b="1">
                <a:solidFill>
                  <a:srgbClr val="1C232D"/>
                </a:solidFill>
                <a:latin typeface="Malgun Gothic"/>
              </a:defRPr>
            </a:pPr>
            <a:r>
              <a:t>사용자 시나리오 QA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71032" y="3154680"/>
            <a:ext cx="429768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2148840"/>
            <a:ext cx="23317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50592"/>
            <a:ext cx="187451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600" b="1">
                <a:solidFill>
                  <a:srgbClr val="7E22CE"/>
                </a:solidFill>
                <a:latin typeface="Malgun Gothic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99232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700" b="1">
                <a:solidFill>
                  <a:srgbClr val="1C232D"/>
                </a:solidFill>
                <a:latin typeface="Malgun Gothic"/>
              </a:defRPr>
            </a:pPr>
            <a:r>
              <a:t>관리자 검수 QA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05672" y="3154680"/>
            <a:ext cx="429768" cy="0"/>
          </a:xfrm>
          <a:prstGeom prst="line">
            <a:avLst/>
          </a:prstGeom>
          <a:ln w="254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81160" y="2148840"/>
            <a:ext cx="23317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450592"/>
            <a:ext cx="187451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999232"/>
            <a:ext cx="1874519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700" b="1">
                <a:solidFill>
                  <a:srgbClr val="1C232D"/>
                </a:solidFill>
                <a:latin typeface="Malgun Gothic"/>
              </a:defRPr>
            </a:pPr>
            <a:r>
              <a:t>보안 점검/배포 리허설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defRPr sz="1800" b="1">
                <a:solidFill>
                  <a:srgbClr val="179669"/>
                </a:solidFill>
                <a:latin typeface="Malgun Gothic"/>
              </a:defRPr>
            </a:pPr>
            <a:r>
              <a:t>완료 기준: production build 통과 + 핵심 화면 브라우저 QA 통과 + 운영 TODO 문서화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85800"/>
            <a:ext cx="10652760" cy="5440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97280"/>
            <a:ext cx="1097280" cy="329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400" b="1">
                <a:solidFill>
                  <a:srgbClr val="179669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55648"/>
            <a:ext cx="969264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400" b="1">
                <a:solidFill>
                  <a:srgbClr val="1C232D"/>
                </a:solidFill>
                <a:latin typeface="Malgun Gothic"/>
              </a:defRPr>
            </a:pPr>
            <a:r>
              <a:t>Recipe Taste Optimizer는 레시피 탐색과 AI 개량 요청, 관리자 검수를 하나의 흐름으로 연결했습니다.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50976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32D"/>
                </a:solidFill>
                <a:latin typeface="Malgun Gothic"/>
              </a:defRPr>
            </a:pPr>
            <a:r>
              <a:t>사용자: 원하는 조건의 레시피를 찾고 요청한다</a:t>
            </a:r>
          </a:p>
          <a:p>
            <a:pPr>
              <a:spcAft>
                <a:spcPts val="800"/>
              </a:spcAft>
              <a:defRPr sz="1800">
                <a:solidFill>
                  <a:srgbClr val="1C232D"/>
                </a:solidFill>
                <a:latin typeface="Malgun Gothic"/>
              </a:defRPr>
            </a:pPr>
            <a:r>
              <a:t>관리자: AI 결과와 출처를 검수하고 기록한다</a:t>
            </a:r>
          </a:p>
          <a:p>
            <a:pPr>
              <a:spcAft>
                <a:spcPts val="800"/>
              </a:spcAft>
              <a:defRPr sz="1800">
                <a:solidFill>
                  <a:srgbClr val="1C232D"/>
                </a:solidFill>
                <a:latin typeface="Malgun Gothic"/>
              </a:defRPr>
            </a:pPr>
            <a:r>
              <a:t>팀: 개발 빌드 기준 페이지 오류를 해소했고 운영 품질 검증 단계로 이동한다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92040"/>
            <a:ext cx="18288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Malgun Gothic"/>
              </a:defRPr>
            </a:pPr>
            <a: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715000"/>
            <a:ext cx="3383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1000" b="0">
                <a:solidFill>
                  <a:srgbClr val="596373"/>
                </a:solidFill>
                <a:latin typeface="Malgun Gothic"/>
              </a:defRPr>
            </a:pPr>
            <a:r>
              <a:t>참고 자료: docs/recipe-taste-optimizer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22860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defRPr sz="900" b="0">
                <a:solidFill>
                  <a:srgbClr val="596373"/>
                </a:solidFill>
                <a:latin typeface="Malgun Gothic"/>
              </a:defRPr>
            </a:pPr>
            <a:r>
              <a:t>Recipe Taste 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Taste Optimizer 프로젝트 발표 자료</dc:title>
  <dc:subject>프로젝트팀 15~20분 발표용 PPT</dc:subject>
  <dc:creator>Codex</dc:creator>
  <cp:keywords>Recipe Taste Optimizer, WIZ, AI, recipe,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